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CampusMind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让课件变成你的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学习搭子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713232" y="316382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面向大学生的 AI 课程学习助手：上传 PDF，自动解析课程知识，支持课件问答、重点总结、复习题生成和中英韩术语解释。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4800600"/>
            <a:ext cx="23317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4983480"/>
            <a:ext cx="310896" cy="31089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239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5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60120" y="55686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核心学习功能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3337560" y="4800600"/>
            <a:ext cx="23317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2152" y="4983480"/>
            <a:ext cx="310896" cy="31089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5239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7+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547872" y="55686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完整页面与流程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925312" y="4800600"/>
            <a:ext cx="23317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4983480"/>
            <a:ext cx="310896" cy="310896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5239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RAG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135624" y="55686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基于课件回答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680960" y="914400"/>
            <a:ext cx="3611880" cy="5074920"/>
          </a:xfrm>
          <a:prstGeom prst="roundRect">
            <a:avLst>
              <a:gd name="adj" fmla="val 4051"/>
            </a:avLst>
          </a:prstGeom>
          <a:solidFill>
            <a:srgbClr val="F7FA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pic>
        <p:nvPicPr>
          <p:cNvPr id="20" name="Image 0" descr="C:\Users\LICHUANG\Documents\New project\campusmind-ai-study-assistant\deliverables\asse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115568"/>
            <a:ext cx="3200400" cy="1938528"/>
          </a:xfrm>
          <a:prstGeom prst="rect">
            <a:avLst/>
          </a:prstGeom>
        </p:spPr>
      </p:pic>
      <p:pic>
        <p:nvPicPr>
          <p:cNvPr id="21" name="Image 1" descr="C:\Users\LICHUANG\Documents\New project\campusmind-ai-study-assistant\deliverables\assets\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3273552"/>
            <a:ext cx="2706624" cy="1645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2960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项目发布演讲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WHY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大学生最缺的不是资料，而是把资料变成知识的系统。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课程 PDF、讲义、教材很多，但复习时真正需要的是：能定位重点、能回答问题、能生成练习、能解释术语。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713232" y="2487168"/>
            <a:ext cx="470916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2688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36192" y="2670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资料分散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36192" y="3017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PDF、课件、笔记散落在不同位置，很难检索。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971032" y="2487168"/>
            <a:ext cx="470916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7064" y="2688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93992" y="2670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复习低效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93992" y="3017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临考前重新翻课件，重点和知识关系不清晰。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13232" y="3813048"/>
            <a:ext cx="470916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" y="4014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36192" y="3995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问答不准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36192" y="43434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普通聊天模型没有课件上下文，容易泛泛而谈。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971032" y="3813048"/>
            <a:ext cx="470916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27064" y="4014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93992" y="3995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语言障碍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93992" y="43434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 / 英 / 韩术语转换频繁，理解成本高。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POSITIONING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CampusMind 的定位：本地课程知识库 + 在线 AI 推理。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目标不是做一个普通聊天机器人，而是把学生自己的课件变成可检索、可问答、可复习的课程知识库。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24612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2331720"/>
            <a:ext cx="324612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75320" y="2331720"/>
            <a:ext cx="324612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学生资料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3319272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273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课程 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" y="3776472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730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教材 / 讲义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4233672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41879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多语言术语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RAG 检索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3319272"/>
            <a:ext cx="73152" cy="73152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3273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解析文本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776472"/>
            <a:ext cx="73152" cy="73152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730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切分片段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4233672"/>
            <a:ext cx="73152" cy="73152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41879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按问题检索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1364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输出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41080" y="3319272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5672" y="3273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41080" y="3776472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5672" y="3730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总结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41080" y="4233672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05672" y="41879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复习题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05072" y="3401568"/>
            <a:ext cx="320040" cy="384048"/>
          </a:xfrm>
          <a:prstGeom prst="chevron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9832" y="3401568"/>
            <a:ext cx="320040" cy="384048"/>
          </a:xfrm>
          <a:prstGeom prst="chevron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CORE FLOW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MVP 主链路已经闭环：上传 PDF 到 AI 回答。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第一版聚焦最核心的学习闭环，保证可以真实使用、真实演示、真实扩展。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181051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29992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34015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上传 PDF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37490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学生上传课程课件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2532888" y="3502152"/>
            <a:ext cx="347472" cy="0"/>
          </a:xfrm>
          <a:prstGeom prst="line">
            <a:avLst/>
          </a:prstGeom>
          <a:noFill/>
          <a:ln w="15240">
            <a:solidFill>
              <a:srgbClr val="B8C7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98648" y="2788920"/>
            <a:ext cx="181051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99816" y="29992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99816" y="34015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解析文本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99816" y="37490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PyMuPDF 提取页文本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773168" y="3502152"/>
            <a:ext cx="347472" cy="0"/>
          </a:xfrm>
          <a:prstGeom prst="line">
            <a:avLst/>
          </a:prstGeom>
          <a:noFill/>
          <a:ln w="15240">
            <a:solidFill>
              <a:srgbClr val="B8C7D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38928" y="2788920"/>
            <a:ext cx="181051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0096" y="29992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0096" y="34015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切分索引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0096" y="37490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文本块写入向量索引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7013448" y="3502152"/>
            <a:ext cx="347472" cy="0"/>
          </a:xfrm>
          <a:prstGeom prst="line">
            <a:avLst/>
          </a:prstGeom>
          <a:noFill/>
          <a:ln w="15240">
            <a:solidFill>
              <a:srgbClr val="B8C7D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79208" y="2788920"/>
            <a:ext cx="181051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0376" y="29992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0376" y="34015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用户提问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0376" y="37490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检索相关课件片段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9253728" y="3502152"/>
            <a:ext cx="347472" cy="0"/>
          </a:xfrm>
          <a:prstGeom prst="line">
            <a:avLst/>
          </a:prstGeom>
          <a:noFill/>
          <a:ln w="15240">
            <a:solidFill>
              <a:srgbClr val="B8C7D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19488" y="2788920"/>
            <a:ext cx="1810512" cy="1417320"/>
          </a:xfrm>
          <a:prstGeom prst="roundRect">
            <a:avLst>
              <a:gd name="adj" fmla="val 10323"/>
            </a:avLst>
          </a:prstGeom>
          <a:solidFill>
            <a:srgbClr val="EEF6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20656" y="29992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20656" y="34015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回答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20656" y="37490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带来源页码输出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914400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这条链路是项目的主干：后续总结、复习题、术语解释，都是围绕已解析课件继续生长。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PAGES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页面结构不只是好看，而是围绕学习路径组织。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项目包含 4 个以上完整页面，并实现列表到详情、选择到功能执行的真实跳转。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246120" cy="3611880"/>
          </a:xfrm>
          <a:prstGeom prst="roundRect">
            <a:avLst>
              <a:gd name="adj" fmla="val 4507"/>
            </a:avLst>
          </a:prstGeom>
          <a:solidFill>
            <a:srgbClr val="F8FB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pic>
        <p:nvPicPr>
          <p:cNvPr id="9" name="Image 0" descr="C:\Users\LICHUANG\Documents\New project\campusmind-ai-study-assistant\deliverables\asse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2880360" cy="1600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课程库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搜索课程、创建课程、查看学习进度，并进入课程详情。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480560" y="1874520"/>
            <a:ext cx="3246120" cy="361188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pic>
        <p:nvPicPr>
          <p:cNvPr id="13" name="Image 1" descr="C:\Users\LICHUANG\Documents\New project\campusmind-ai-study-assistant\deliverables\assets\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57400"/>
            <a:ext cx="2880360" cy="1600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首页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5488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展示产品定位、核心能力、技术亮点和主入口。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8321040" y="1874520"/>
            <a:ext cx="3246120" cy="361188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pic>
        <p:nvPicPr>
          <p:cNvPr id="17" name="Image 2" descr="C:\Users\LICHUANG\Documents\New project\campusmind-ai-study-assistant\deliverables\assets\insigh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57400"/>
            <a:ext cx="2880360" cy="1600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学习洞察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9536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用数据可视化呈现课程完成度、学习建议和能力变化。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ARCHITECTURE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系统架构：Next.js 前端 + FastAPI 后端 + RAG 服务层。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架构保持清晰可部署：前端负责交互，后端负责业务与 AI 编排，向量索引负责课件检索。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205740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9848" y="2971800"/>
            <a:ext cx="155448" cy="15544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29718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Next.js 前端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205740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13048" y="2971800"/>
            <a:ext cx="155448" cy="15544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29718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FastAPI 后端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057400"/>
            <a:ext cx="205740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2286000"/>
            <a:ext cx="155448" cy="155448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22860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401568"/>
            <a:ext cx="205740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0528" y="3630168"/>
            <a:ext cx="155448" cy="155448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363016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向量索引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2743200"/>
            <a:ext cx="205740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99448" y="2971800"/>
            <a:ext cx="155448" cy="15544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9718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在线 AI 网关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44368" y="3127248"/>
            <a:ext cx="576072" cy="0"/>
          </a:xfrm>
          <a:prstGeom prst="line">
            <a:avLst/>
          </a:prstGeom>
          <a:noFill/>
          <a:ln w="17780">
            <a:solidFill>
              <a:srgbClr val="9BAAC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87568" y="3127248"/>
            <a:ext cx="493776" cy="0"/>
          </a:xfrm>
          <a:prstGeom prst="line">
            <a:avLst/>
          </a:prstGeom>
          <a:noFill/>
          <a:ln w="17780">
            <a:solidFill>
              <a:srgbClr val="9BAAC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12480" y="3127248"/>
            <a:ext cx="594360" cy="0"/>
          </a:xfrm>
          <a:prstGeom prst="line">
            <a:avLst/>
          </a:prstGeom>
          <a:noFill/>
          <a:ln w="17780">
            <a:solidFill>
              <a:srgbClr val="9BAAC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999232" y="28529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HTTP API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5650992" y="28529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RAG 编排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7818120" y="28529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Chat Completions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960120" y="5120640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" y="5074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认证：JWT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960120" y="5413248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" y="53675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PDF 解析：PyMuPDF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60120" y="5705856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4712" y="566013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模型：Ajou / Mindlogic OpenAI-compatible Gateway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960120" y="5998464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4712" y="595274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部署：Docker Compose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RAG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不是直接聊天，而是先找课件证据再回答。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这样可以显著降低幻觉风险，并让回答尽量基于学生自己的课程资料。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466344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670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Prompt 约束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291840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3246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只根据课件资料回答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8992" y="3685032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6393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找不到答案时明确说明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78992" y="4078224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40325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返回来源页码与片段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78992" y="4471416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44256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支持中文、英文、韩文输出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2331720"/>
            <a:ext cx="5394960" cy="3017520"/>
          </a:xfrm>
          <a:prstGeom prst="roundRect">
            <a:avLst>
              <a:gd name="adj" fmla="val 4848"/>
            </a:avLst>
          </a:prstGeom>
          <a:solidFill>
            <a:srgbClr val="F8FB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670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在线模型配置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36208" y="3246120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AI_PROVIDER=openai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OPENAI_BASE_URL=https://factchat-cloud.mindlogic.ai/v1/gateway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OPENAI_CHAT_MODEL=gpt-5-mini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EMBEDDING_PROVIDER=mock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236208" y="4681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当前项目已支持在线 AI 回答，embedding 可使用在线服务，也可用本地哈希方案完成演示闭环。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DESIGN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设计方向：从炫技科技风，升级为更稳的 Apple 官网式高级感。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这套视觉更适合上台展示、GitHub 项目主页、作品集和求职作品：清晰、克制、可信。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23317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87552" y="32552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超大标题与强层级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429000" y="2487168"/>
            <a:ext cx="23317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2670048"/>
            <a:ext cx="310896" cy="31089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639312" y="32552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大量留白与轻卡片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080760" y="2487168"/>
            <a:ext cx="23317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5352" y="2670048"/>
            <a:ext cx="310896" cy="310896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291072" y="32552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柔和动效与渐变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8732520" y="2487168"/>
            <a:ext cx="23317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97112" y="2670048"/>
            <a:ext cx="310896" cy="310896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2832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942832" y="32552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高对比可读文字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1188720" y="4370832"/>
            <a:ext cx="9784080" cy="9144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00200" y="4681728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视觉原则：先保证信息清楚，再用细腻的光感、留白和动效制造高级感。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DEMO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现场演示按 5 步走，观众最容易理解。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不要先讲代码，先让大家看到一个学生如何真正使用它学习。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914400" y="1947672"/>
            <a:ext cx="310896" cy="310896"/>
          </a:xfrm>
          <a:prstGeom prst="ellipse">
            <a:avLst/>
          </a:prstGeom>
          <a:solidFill>
            <a:srgbClr val="DCEBFF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62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注册 / 登录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476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创建自己的课程空间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914400" y="2697480"/>
            <a:ext cx="310896" cy="310896"/>
          </a:xfrm>
          <a:prstGeom prst="ellipse">
            <a:avLst/>
          </a:prstGeom>
          <a:solidFill>
            <a:srgbClr val="DCEBFF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6606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1463040" y="2670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新建课程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例如：计算机网络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3447288"/>
            <a:ext cx="310896" cy="31089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158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463040" y="34198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上传 PDF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4472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系统解析并建立索引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14400" y="4197096"/>
            <a:ext cx="310896" cy="310896"/>
          </a:xfrm>
          <a:prstGeom prst="ellipse">
            <a:avLst/>
          </a:prstGeom>
          <a:solidFill>
            <a:srgbClr val="DCEBFF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6567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4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463040" y="4169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基于课件提问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41970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 ARP、SDN、OpenFlow 等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14400" y="4946904"/>
            <a:ext cx="310896" cy="310896"/>
          </a:xfrm>
          <a:prstGeom prst="ellipse">
            <a:avLst/>
          </a:prstGeom>
          <a:solidFill>
            <a:srgbClr val="DCEBFF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01548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5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463040" y="4919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生成复习材料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49469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总结重点、出题、翻译术语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641080" y="2057400"/>
            <a:ext cx="2560320" cy="2971800"/>
          </a:xfrm>
          <a:prstGeom prst="roundRect">
            <a:avLst>
              <a:gd name="adj" fmla="val 5714"/>
            </a:avLst>
          </a:prstGeom>
          <a:solidFill>
            <a:srgbClr val="F8FB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61120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演示重点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979408" y="3017520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29718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证明能跑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979408" y="3438144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33924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证明能问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979408" y="3858768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38130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证明能扩展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STACK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技术选型以“能落地、能扩展、能部署”为标准。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项目不是只做页面，而是前后端、AI、RAG、数据库、Docker 都形成了完整工程链路。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822960" y="2267712"/>
            <a:ext cx="315468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4963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55648" y="2496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Next.js / React / TypeScript / Tailwind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572000" y="2267712"/>
            <a:ext cx="315468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24963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后端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04688" y="2496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FastAPI / SQLAlchemy / Pydantic / Uvicorn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321040" y="2267712"/>
            <a:ext cx="315468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77072" y="24963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53728" y="2496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Ajou Gateway / OpenAI-compatible API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22960" y="3502152"/>
            <a:ext cx="315468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78992" y="37307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RAG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55648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PDF Parse / Chunking / Vector Search / Prompt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572000" y="3502152"/>
            <a:ext cx="315468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37307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04688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SQLite / PostgreSQL / MySQL 可切换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8321040" y="3502152"/>
            <a:ext cx="315468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77072" y="37307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部署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53728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Docker / Docker Compose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VALUE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项目价值：把 AI 从“能聊天”推进到“能辅助学习”。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CampusMind 的优势不是模型本身，而是把模型放进课程学习场景里，形成一个可重复使用的知识工作流。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063240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331720"/>
            <a:ext cx="3063240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0" y="2331720"/>
            <a:ext cx="3063240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2697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对学生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70432" y="3319272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5024" y="3273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更快复习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70432" y="3739896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5024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按课件回答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4160520"/>
            <a:ext cx="73152" cy="7315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5024" y="4114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跨语言理解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697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对课程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73752" y="3319272"/>
            <a:ext cx="73152" cy="73152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8344" y="3273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知识可检索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73752" y="3739896"/>
            <a:ext cx="73152" cy="73152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8344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资料结构化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73752" y="4160520"/>
            <a:ext cx="73152" cy="73152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38344" y="4114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沉淀课程库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49640" y="2697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对项目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77072" y="3319272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41664" y="3273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完整全栈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77072" y="3739896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可部署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77072" y="4160520"/>
            <a:ext cx="73152" cy="73152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41664" y="4114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可继续扩展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97280"/>
            <a:ext cx="4206240" cy="4206240"/>
          </a:xfrm>
          <a:prstGeom prst="arc">
            <a:avLst/>
          </a:prstGeom>
          <a:solidFill>
            <a:srgbClr val="EAF5FF">
              <a:alpha val="88000"/>
            </a:srgbClr>
          </a:solidFill>
          <a:ln w="12700">
            <a:solidFill>
              <a:srgbClr val="EA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arc">
            <a:avLst/>
          </a:prstGeom>
          <a:solidFill>
            <a:srgbClr val="F7ECFF">
              <a:alpha val="84000"/>
            </a:srgbClr>
          </a:solidFill>
          <a:ln w="12700">
            <a:solidFill>
              <a:srgbClr val="F7E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411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DCEB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4800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ROADMAP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9509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下一步：从 MVP 走向真正的校园学习平台。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现阶段主流程已打通，后续重点是增强学习效果、多人协作和生产部署能力。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2971800" cy="2148840"/>
          </a:xfrm>
          <a:prstGeom prst="roundRect">
            <a:avLst>
              <a:gd name="adj" fmla="val 6809"/>
            </a:avLst>
          </a:prstGeom>
          <a:solidFill>
            <a:srgbClr val="EEF6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07008" y="287121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短期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34015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OCR 扫描 PDF、流式回答、导出总结和题库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2514600"/>
            <a:ext cx="297180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0328" y="287121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10328" y="34015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错题本、记忆卡片、知识图谱、课程推荐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297180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9050" dist="50800" dir="2700000">
              <a:srgbClr val="D6DEE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13648" y="287121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长期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13648" y="34015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多用户课程空间、教师端、云端部署、权限体系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6875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谢谢大家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68680" y="61447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欢迎体验 CampusMind，也欢迎提出问题。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CampusMind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CampusMind 项目发布演讲</dc:title>
  <dc:subject>AI 课程学习助手项目发布</dc:subject>
  <dc:creator>CampusMind</dc:creator>
  <cp:lastModifiedBy>CampusMind</cp:lastModifiedBy>
  <cp:revision>1</cp:revision>
  <dcterms:created xsi:type="dcterms:W3CDTF">2026-05-19T17:30:58Z</dcterms:created>
  <dcterms:modified xsi:type="dcterms:W3CDTF">2026-05-19T17:30:58Z</dcterms:modified>
</cp:coreProperties>
</file>